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85" r:id="rId2"/>
    <p:sldId id="428" r:id="rId3"/>
    <p:sldId id="404" r:id="rId4"/>
    <p:sldId id="431" r:id="rId5"/>
    <p:sldId id="424" r:id="rId6"/>
    <p:sldId id="396" r:id="rId7"/>
    <p:sldId id="429" r:id="rId8"/>
    <p:sldId id="398" r:id="rId9"/>
    <p:sldId id="430" r:id="rId10"/>
    <p:sldId id="417" r:id="rId11"/>
    <p:sldId id="418" r:id="rId12"/>
    <p:sldId id="421" r:id="rId13"/>
    <p:sldId id="419" r:id="rId14"/>
    <p:sldId id="405" r:id="rId15"/>
    <p:sldId id="406" r:id="rId16"/>
    <p:sldId id="407" r:id="rId17"/>
    <p:sldId id="408" r:id="rId18"/>
    <p:sldId id="410" r:id="rId19"/>
    <p:sldId id="412" r:id="rId20"/>
    <p:sldId id="414" r:id="rId21"/>
    <p:sldId id="41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702E"/>
    <a:srgbClr val="F95B65"/>
    <a:srgbClr val="3E4543"/>
    <a:srgbClr val="F7323F"/>
    <a:srgbClr val="FCFCFC"/>
    <a:srgbClr val="0C298B"/>
    <a:srgbClr val="60708B"/>
    <a:srgbClr val="F7567C"/>
    <a:srgbClr val="26CA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99" autoAdjust="0"/>
    <p:restoredTop sz="94660"/>
  </p:normalViewPr>
  <p:slideViewPr>
    <p:cSldViewPr snapToGrid="0">
      <p:cViewPr varScale="1">
        <p:scale>
          <a:sx n="86" d="100"/>
          <a:sy n="86" d="100"/>
        </p:scale>
        <p:origin x="715" y="67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09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EA57D-D858-4402-9858-9A8F9F67B2AE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261D7-761C-48EC-A92D-222EA5680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581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63993-F6F3-2B43-AD19-253EB4A4C7F8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C37BF7-95A9-A049-967F-0BC4A5936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22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37BF7-95A9-A049-967F-0BC4A5936D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95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323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8796" y="1742650"/>
            <a:ext cx="5693329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Enter Talk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8796" y="4222325"/>
            <a:ext cx="5693329" cy="42467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A944E7-E604-6144-B5DB-257B412DA638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Telcobright-2022,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2C12A61-9EE8-4E45-A1FB-04158638D41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55" y="1742650"/>
            <a:ext cx="5126486" cy="287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05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F7323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04666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11D0D-83EE-8F49-8574-2C1E5F1D1800}" type="datetime1">
              <a:rPr lang="en-US" smtClean="0"/>
              <a:t>3/5/2024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Telcobright (2022)-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12140268" y="0"/>
            <a:ext cx="103464" cy="6858000"/>
          </a:xfrm>
          <a:prstGeom prst="rect">
            <a:avLst/>
          </a:prstGeom>
          <a:solidFill>
            <a:srgbClr val="F7323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89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2989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2989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D909-6B45-414D-B320-B95A6DF6C3D7}" type="datetime1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Telcobright-2022,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2088536" y="0"/>
            <a:ext cx="103464" cy="6858000"/>
          </a:xfrm>
          <a:prstGeom prst="rect">
            <a:avLst/>
          </a:prstGeom>
          <a:solidFill>
            <a:srgbClr val="F7323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20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 noChangeAspect="1"/>
          </p:cNvSpPr>
          <p:nvPr>
            <p:ph type="body" sz="quarter" idx="10"/>
          </p:nvPr>
        </p:nvSpPr>
        <p:spPr>
          <a:xfrm>
            <a:off x="306272" y="1339747"/>
            <a:ext cx="5496567" cy="498485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000"/>
              </a:spcBef>
              <a:defRPr sz="2200">
                <a:solidFill>
                  <a:srgbClr val="0E243E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1000"/>
              </a:spcBef>
              <a:defRPr sz="1700">
                <a:solidFill>
                  <a:srgbClr val="0E243E"/>
                </a:solidFill>
                <a:latin typeface="+mj-lt"/>
              </a:defRPr>
            </a:lvl2pPr>
            <a:lvl3pPr>
              <a:spcBef>
                <a:spcPts val="1000"/>
              </a:spcBef>
              <a:defRPr sz="1400">
                <a:solidFill>
                  <a:srgbClr val="0E243E"/>
                </a:solidFill>
                <a:latin typeface="+mj-lt"/>
              </a:defRPr>
            </a:lvl3pPr>
            <a:lvl4pPr>
              <a:spcBef>
                <a:spcPts val="1000"/>
              </a:spcBef>
              <a:defRPr sz="1300">
                <a:solidFill>
                  <a:srgbClr val="0E243E"/>
                </a:solidFill>
                <a:latin typeface="+mj-lt"/>
              </a:defRPr>
            </a:lvl4pPr>
            <a:lvl5pPr>
              <a:spcBef>
                <a:spcPts val="1000"/>
              </a:spcBef>
              <a:defRPr sz="1300">
                <a:solidFill>
                  <a:srgbClr val="0E243E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275708" y="1339747"/>
            <a:ext cx="5496567" cy="498485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000"/>
              </a:spcBef>
              <a:defRPr sz="2200">
                <a:solidFill>
                  <a:srgbClr val="0E243E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1000"/>
              </a:spcBef>
              <a:defRPr sz="1700">
                <a:solidFill>
                  <a:srgbClr val="0E243E"/>
                </a:solidFill>
                <a:latin typeface="+mj-lt"/>
              </a:defRPr>
            </a:lvl2pPr>
            <a:lvl3pPr>
              <a:spcBef>
                <a:spcPts val="1000"/>
              </a:spcBef>
              <a:defRPr sz="1400">
                <a:solidFill>
                  <a:srgbClr val="0E243E"/>
                </a:solidFill>
                <a:latin typeface="+mj-lt"/>
              </a:defRPr>
            </a:lvl3pPr>
            <a:lvl4pPr>
              <a:spcBef>
                <a:spcPts val="1000"/>
              </a:spcBef>
              <a:defRPr sz="1300">
                <a:solidFill>
                  <a:srgbClr val="0E243E"/>
                </a:solidFill>
                <a:latin typeface="+mj-lt"/>
              </a:defRPr>
            </a:lvl4pPr>
            <a:lvl5pPr>
              <a:spcBef>
                <a:spcPts val="1000"/>
              </a:spcBef>
              <a:defRPr sz="1300">
                <a:solidFill>
                  <a:srgbClr val="0E243E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306268" y="381003"/>
            <a:ext cx="11451815" cy="889415"/>
          </a:xfrm>
          <a:prstGeom prst="rect">
            <a:avLst/>
          </a:prstGeom>
        </p:spPr>
        <p:txBody>
          <a:bodyPr vert="horz" lIns="106676" tIns="53338" rIns="99056" bIns="53338" rtlCol="0" anchor="b" anchorCtr="0">
            <a:noAutofit/>
          </a:bodyPr>
          <a:lstStyle>
            <a:lvl1pPr algn="l" defTabSz="76197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200" b="0" kern="1200" spc="0" baseline="0" dirty="0">
                <a:gradFill>
                  <a:gsLst>
                    <a:gs pos="0">
                      <a:srgbClr val="00A5C7"/>
                    </a:gs>
                    <a:gs pos="44000">
                      <a:srgbClr val="00B0F0"/>
                    </a:gs>
                    <a:gs pos="100000">
                      <a:srgbClr val="00519A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156952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21896" tIns="60948" rIns="121896" bIns="6094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1293581" y="637297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Telcobright-2022,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22529541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61000"/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821" y="1862562"/>
            <a:ext cx="10515600" cy="4231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89950" y="6356350"/>
            <a:ext cx="1107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3814C-C0D2-BB49-822F-4711DB285200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Telcobright-2022,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97298" y="6356350"/>
            <a:ext cx="4565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C12A61-9EE8-4E45-A1FB-04158638D41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74" b="17233"/>
          <a:stretch/>
        </p:blipFill>
        <p:spPr>
          <a:xfrm>
            <a:off x="1" y="6045554"/>
            <a:ext cx="838199" cy="813367"/>
          </a:xfrm>
          <a:prstGeom prst="rect">
            <a:avLst/>
          </a:prstGeom>
          <a:gradFill>
            <a:gsLst>
              <a:gs pos="11000">
                <a:schemeClr val="bg1">
                  <a:lumMod val="8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3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14" name="TextBox 13"/>
          <p:cNvSpPr txBox="1"/>
          <p:nvPr userDrawn="1"/>
        </p:nvSpPr>
        <p:spPr>
          <a:xfrm>
            <a:off x="782074" y="6356350"/>
            <a:ext cx="144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95B65"/>
                </a:solidFill>
                <a:latin typeface="Helvetica" pitchFamily="50" charset="0"/>
              </a:rPr>
              <a:t>Telcobright</a:t>
            </a:r>
          </a:p>
        </p:txBody>
      </p:sp>
    </p:spTree>
    <p:extLst>
      <p:ext uri="{BB962C8B-B14F-4D97-AF65-F5344CB8AC3E}">
        <p14:creationId xmlns:p14="http://schemas.microsoft.com/office/powerpoint/2010/main" val="1717398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7323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D12F8-1B53-AC63-15AD-66AF9992F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46" y="1879458"/>
            <a:ext cx="10515600" cy="2209584"/>
          </a:xfrm>
        </p:spPr>
        <p:txBody>
          <a:bodyPr>
            <a:normAutofit/>
          </a:bodyPr>
          <a:lstStyle/>
          <a:p>
            <a:r>
              <a:rPr lang="en-US" dirty="0"/>
              <a:t>AIOB SMS V-HUB Signaling Topology</a:t>
            </a:r>
            <a:br>
              <a:rPr lang="en-US" dirty="0"/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Message Routing (Signaling) and Billing recommendations as per GSMA     SMS HUB Guidelines</a:t>
            </a:r>
            <a:b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Network Design Considerations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6782A3-5AD2-9B2A-9CE3-065BC66D8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Telcobright (2022)-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0D739-692F-CE0F-219B-0A120620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27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ECDC0-9E94-4E14-A220-3ED01CAA8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28" y="198715"/>
            <a:ext cx="10515600" cy="829192"/>
          </a:xfrm>
        </p:spPr>
        <p:txBody>
          <a:bodyPr/>
          <a:lstStyle/>
          <a:p>
            <a:r>
              <a:rPr lang="en-US" dirty="0"/>
              <a:t>Important Recommendations from GSMA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6D4ED6-85E9-4D6B-BA8F-D759D264C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Telcobright (2022)-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4BA0B-D875-470D-AC9D-EB84B4EE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C5416-32D2-43E4-A431-FD0DE5E94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948" y="1027907"/>
            <a:ext cx="7819831" cy="494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36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A95FC-E0EA-4020-9CED-B8B88360B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605"/>
          </a:xfrm>
        </p:spPr>
        <p:txBody>
          <a:bodyPr>
            <a:normAutofit fontScale="90000"/>
          </a:bodyPr>
          <a:lstStyle/>
          <a:p>
            <a:r>
              <a:rPr lang="en-US" dirty="0"/>
              <a:t>SIGTRAN Protocol Stack for SMS Transit through SMS HUB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5867D-1D7C-4F0E-8ED9-4CEB3E675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Telcobright (2022)-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26EEC-BF2A-4026-A078-9A566FAF8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7EED88-32A4-4943-A2D1-5D93ABED7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074" y="2047328"/>
            <a:ext cx="7800000" cy="39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26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2EB2-4E94-4A3C-8A4C-D6AF75E03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2" y="136525"/>
            <a:ext cx="10515600" cy="497760"/>
          </a:xfrm>
        </p:spPr>
        <p:txBody>
          <a:bodyPr>
            <a:normAutofit fontScale="90000"/>
          </a:bodyPr>
          <a:lstStyle/>
          <a:p>
            <a:r>
              <a:rPr lang="en-US" dirty="0"/>
              <a:t>SMS HUB Equipment and Protocol Support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61D3E-3860-497D-9F86-CF6ACFBE7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Telcobright (2022)-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DEDA6-9591-4516-B6CE-F6276ADD6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C141AA-9D2E-4BE3-8443-FDC2625C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04" y="634285"/>
            <a:ext cx="6343919" cy="19512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999687-3131-479F-A4B8-B1ABBC0B7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05" y="2871811"/>
            <a:ext cx="4985582" cy="26145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2DDA5D-055A-41B8-9531-7E7835D8FF8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986"/>
          <a:stretch/>
        </p:blipFill>
        <p:spPr>
          <a:xfrm>
            <a:off x="6729936" y="785814"/>
            <a:ext cx="5281760" cy="593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431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68F4-5F27-4782-9848-B2F7C124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" y="136524"/>
            <a:ext cx="10515600" cy="687723"/>
          </a:xfrm>
        </p:spPr>
        <p:txBody>
          <a:bodyPr>
            <a:normAutofit/>
          </a:bodyPr>
          <a:lstStyle/>
          <a:p>
            <a:r>
              <a:rPr lang="en-US" sz="4000" dirty="0"/>
              <a:t>GSMA Process Flow for Signaling (Bilateral)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2A05B-7D64-4D92-A164-69FDBF15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Telcobright (2022)-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4DC8A-B754-41D7-AC0A-CE546E6D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600D11-8E51-402C-AC38-6D0EA96FC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162" y="2163651"/>
            <a:ext cx="5752731" cy="31360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721371-13E3-4D48-8C98-A93B3E899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21" y="709127"/>
            <a:ext cx="5997460" cy="574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12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68F4-5F27-4782-9848-B2F7C124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142421"/>
            <a:ext cx="10515600" cy="875846"/>
          </a:xfrm>
        </p:spPr>
        <p:txBody>
          <a:bodyPr>
            <a:normAutofit/>
          </a:bodyPr>
          <a:lstStyle/>
          <a:p>
            <a:r>
              <a:rPr lang="en-US" dirty="0"/>
              <a:t>Example Message Routing (Bilateral)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1EEC7-F967-4EC2-965F-0298BD075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6863" y="1089219"/>
            <a:ext cx="5188576" cy="3801899"/>
          </a:xfrm>
        </p:spPr>
        <p:txBody>
          <a:bodyPr>
            <a:normAutofit/>
          </a:bodyPr>
          <a:lstStyle/>
          <a:p>
            <a:r>
              <a:rPr lang="en-US" sz="2000" dirty="0"/>
              <a:t>Robi wants to send MSU to GP GT=017</a:t>
            </a:r>
          </a:p>
          <a:p>
            <a:r>
              <a:rPr lang="en-US" sz="2000" dirty="0"/>
              <a:t>Robi STP translates the GT to GP DPC=03</a:t>
            </a:r>
          </a:p>
          <a:p>
            <a:r>
              <a:rPr lang="en-US" sz="2000" dirty="0"/>
              <a:t>MSU or signaling messages are passed directly from Robi OPC to GP DPC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2A05B-7D64-4D92-A164-69FDBF15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Telcobright (2022)-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4DC8A-B754-41D7-AC0A-CE546E6D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ACA33-AB0B-44F3-8A4A-D3A292BA5E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2"/>
          <a:stretch/>
        </p:blipFill>
        <p:spPr>
          <a:xfrm>
            <a:off x="475487" y="1089219"/>
            <a:ext cx="5551825" cy="524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28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68F4-5F27-4782-9848-B2F7C124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142421"/>
            <a:ext cx="10515600" cy="56670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GSMA Process Flow for Signaling through HUB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2A05B-7D64-4D92-A164-69FDBF15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Telcobright (2022)-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4DC8A-B754-41D7-AC0A-CE546E6D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2A3F69-B6F5-4E00-BFA3-031238B6B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73" y="830896"/>
            <a:ext cx="6183110" cy="473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56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68F4-5F27-4782-9848-B2F7C124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142421"/>
            <a:ext cx="11758258" cy="56670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Example of Proposed Message Routing (Through SMS-HUB STP)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1EEC7-F967-4EC2-965F-0298BD075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6" y="5042284"/>
            <a:ext cx="10890184" cy="1037752"/>
          </a:xfrm>
        </p:spPr>
        <p:txBody>
          <a:bodyPr>
            <a:normAutofit/>
          </a:bodyPr>
          <a:lstStyle/>
          <a:p>
            <a:r>
              <a:rPr lang="en-US" sz="1600" dirty="0"/>
              <a:t>Robi wants to send MSU to GP GT=017</a:t>
            </a:r>
          </a:p>
          <a:p>
            <a:r>
              <a:rPr lang="en-US" sz="1600" dirty="0"/>
              <a:t>Robi STP translates the point code to AIOB STP DPC=02 and the packet reaches the STP</a:t>
            </a:r>
          </a:p>
          <a:p>
            <a:r>
              <a:rPr lang="en-US" sz="1600" dirty="0"/>
              <a:t>AIOB STP looks up GT translation table and translates the GT 017 to next hop point code GP DPC 03 and forwards the MSU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2A05B-7D64-4D92-A164-69FDBF15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Telcobright (2022)-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4DC8A-B754-41D7-AC0A-CE546E6D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CC33BD-679B-4742-A195-458276FA3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70" y="709127"/>
            <a:ext cx="9077335" cy="428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33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E2A2-2267-438C-A8F1-FE525ED34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50" y="319088"/>
            <a:ext cx="11725142" cy="620109"/>
          </a:xfrm>
        </p:spPr>
        <p:txBody>
          <a:bodyPr>
            <a:normAutofit fontScale="90000"/>
          </a:bodyPr>
          <a:lstStyle/>
          <a:p>
            <a:r>
              <a:rPr lang="en-US" dirty="0"/>
              <a:t>Acknowledgement from AMTOB on Signaling Process Flow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D79D4-768C-4564-9DB8-D0A6284C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Telcobright (2022)-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2918E-66FF-420B-BF2A-CBFB6DEC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0AE47B-0BA1-443D-AE23-0F23AC5256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146" b="32371"/>
          <a:stretch/>
        </p:blipFill>
        <p:spPr>
          <a:xfrm>
            <a:off x="2060082" y="784652"/>
            <a:ext cx="6691112" cy="601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60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68F4-5F27-4782-9848-B2F7C124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142421"/>
            <a:ext cx="10515600" cy="56670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GSMA Recommendations for Realization of Signaling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2A05B-7D64-4D92-A164-69FDBF15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Telcobright (2022)-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4DC8A-B754-41D7-AC0A-CE546E6D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E9FB90-EFD8-474D-B842-B41465CA0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156" y="1328596"/>
            <a:ext cx="8857280" cy="465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67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68F4-5F27-4782-9848-B2F7C124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1" y="232573"/>
            <a:ext cx="11764697" cy="56670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Recommendations on Preserving SCCP and MAP Addresses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2A05B-7D64-4D92-A164-69FDBF15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Telcobright (2022)-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4DC8A-B754-41D7-AC0A-CE546E6D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3C1351-2215-4902-AC8B-1EA49AE34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85" y="1121392"/>
            <a:ext cx="7807706" cy="482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01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68F4-5F27-4782-9848-B2F7C124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142421"/>
            <a:ext cx="10515600" cy="56670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Recommendations on Billing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1EEC7-F967-4EC2-965F-0298BD075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585" y="5575370"/>
            <a:ext cx="10890184" cy="876945"/>
          </a:xfrm>
        </p:spPr>
        <p:txBody>
          <a:bodyPr>
            <a:normAutofit/>
          </a:bodyPr>
          <a:lstStyle/>
          <a:p>
            <a:r>
              <a:rPr lang="en-US" sz="2400" dirty="0"/>
              <a:t>General recommendation is to bill on successful SMS sending/receiving</a:t>
            </a:r>
          </a:p>
          <a:p>
            <a:r>
              <a:rPr lang="en-US" sz="2400" dirty="0"/>
              <a:t>Optionally SRI can be charged, depends on HUB and operators negotiations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2A05B-7D64-4D92-A164-69FDBF15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Telcobright (2022)-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4DC8A-B754-41D7-AC0A-CE546E6D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35D7D6-C345-4D2A-B4D3-64FD5FD69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58" y="756182"/>
            <a:ext cx="6819659" cy="475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352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68F4-5F27-4782-9848-B2F7C124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534" y="82531"/>
            <a:ext cx="10515600" cy="56670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Recommendations on Concatenated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1EEC7-F967-4EC2-965F-0298BD075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098" y="4247448"/>
            <a:ext cx="5245102" cy="1901426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MSG concatenation should not be a concern for Hub and hub will charge based on Forward SM Response for each Submission.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2A05B-7D64-4D92-A164-69FDBF15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Telcobright (2022)-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4DC8A-B754-41D7-AC0A-CE546E6D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D63445-EA95-491D-8FD8-7F9C24B27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3" y="709127"/>
            <a:ext cx="6104149" cy="5303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576FEB-D1C8-48E3-829C-E97D71BB5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098" y="709126"/>
            <a:ext cx="5315935" cy="407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54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5F4B-1BEC-4AF8-AFFB-867A38941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Availability and Security at Various Protocol Layers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9ADEC-B224-4C3F-9F7D-F143AB7B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Telcobright (2022)-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3441D-D053-4747-88C9-30792342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14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7A258B-48EF-4729-9E26-EA7A80FFC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Site Level HA or Redundancy</a:t>
            </a:r>
          </a:p>
          <a:p>
            <a:r>
              <a:rPr lang="en-US" dirty="0"/>
              <a:t>Node Level HA</a:t>
            </a:r>
          </a:p>
          <a:p>
            <a:r>
              <a:rPr lang="en-US" dirty="0"/>
              <a:t>Card Level HA through SCTP Multi-Homing</a:t>
            </a:r>
          </a:p>
          <a:p>
            <a:r>
              <a:rPr lang="en-US" dirty="0"/>
              <a:t>IP backbone redundancy</a:t>
            </a:r>
          </a:p>
          <a:p>
            <a:pPr lvl="1"/>
            <a:r>
              <a:rPr lang="en-US" dirty="0"/>
              <a:t>Multiple physical links</a:t>
            </a:r>
          </a:p>
          <a:p>
            <a:pPr lvl="1"/>
            <a:r>
              <a:rPr lang="en-US" dirty="0"/>
              <a:t>BGP for dynamic and failover routing</a:t>
            </a:r>
          </a:p>
          <a:p>
            <a:r>
              <a:rPr lang="en-US" dirty="0"/>
              <a:t>Security using IPSEC and GRE Tunnel (SS7 attack+ source spoofing)</a:t>
            </a:r>
          </a:p>
          <a:p>
            <a:r>
              <a:rPr lang="en-US" dirty="0"/>
              <a:t>HA in IP Access Network </a:t>
            </a:r>
          </a:p>
          <a:p>
            <a:pPr lvl="1"/>
            <a:r>
              <a:rPr lang="en-US" dirty="0"/>
              <a:t>VRRP</a:t>
            </a:r>
          </a:p>
          <a:p>
            <a:pPr lvl="1"/>
            <a:r>
              <a:rPr lang="en-US" dirty="0" err="1"/>
              <a:t>Vlan</a:t>
            </a:r>
            <a:r>
              <a:rPr lang="en-US" dirty="0"/>
              <a:t> </a:t>
            </a:r>
            <a:r>
              <a:rPr lang="en-US" dirty="0" err="1"/>
              <a:t>Trunking</a:t>
            </a:r>
            <a:endParaRPr lang="en-US" dirty="0"/>
          </a:p>
          <a:p>
            <a:pPr lvl="1"/>
            <a:r>
              <a:rPr lang="en-US" dirty="0"/>
              <a:t>OSPF over GRE tunnel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152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839D3B-5294-4908-B1D8-EE01C0A32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Telcobright (2022)-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0D1AB-7972-4366-B26A-8710547A2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797362-23EB-4D66-9C0A-D779E8A17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573" y="1206100"/>
            <a:ext cx="5961905" cy="506666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736475C-904E-4CF7-8A05-EEA491DF9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98" y="301880"/>
            <a:ext cx="10515600" cy="56670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Site Level STP HA or Redundancy for SIGTRAN OR SCTP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FB9DDE-E406-4081-8E54-FB4BE6ACA0B1}"/>
              </a:ext>
            </a:extLst>
          </p:cNvPr>
          <p:cNvSpPr txBox="1"/>
          <p:nvPr/>
        </p:nvSpPr>
        <p:spPr>
          <a:xfrm>
            <a:off x="4693920" y="1272540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Link-1</a:t>
            </a:r>
          </a:p>
        </p:txBody>
      </p:sp>
    </p:spTree>
    <p:extLst>
      <p:ext uri="{BB962C8B-B14F-4D97-AF65-F5344CB8AC3E}">
        <p14:creationId xmlns:p14="http://schemas.microsoft.com/office/powerpoint/2010/main" val="2893414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64E9DC-537A-4D02-AE85-248D2F4D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Telcobright (2022)-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A7928-8DF7-4D82-93F6-9E86C9254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29892F-2692-4072-A4DD-73D085159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614" y="2406960"/>
            <a:ext cx="7419048" cy="243137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EAB90D8-ECC2-41AD-98E7-25469F60B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Card Level HA through SCTP Multihoming</a:t>
            </a:r>
          </a:p>
        </p:txBody>
      </p:sp>
    </p:spTree>
    <p:extLst>
      <p:ext uri="{BB962C8B-B14F-4D97-AF65-F5344CB8AC3E}">
        <p14:creationId xmlns:p14="http://schemas.microsoft.com/office/powerpoint/2010/main" val="3508704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7A0FF-33CA-4B5E-BF17-4D96DDF8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BGP, IPSEC and OSPF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E22A8-5D78-4DF7-AA74-BD98B70B8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Telcobright (2022)-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1707E-23C9-490A-AC27-8B0A5B30E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B249A5-3C41-4A21-8BEA-7DA1E93823B3}"/>
              </a:ext>
            </a:extLst>
          </p:cNvPr>
          <p:cNvSpPr txBox="1"/>
          <p:nvPr/>
        </p:nvSpPr>
        <p:spPr>
          <a:xfrm>
            <a:off x="5219700" y="2312260"/>
            <a:ext cx="2148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sigtran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144052-8461-50F5-1F1C-4020950AE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405" y="2607353"/>
            <a:ext cx="76962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058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62C13-B826-4BDB-BF5A-D5A52E4B3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eBGP over IPSEC, One Session or Tunnel per Firewall Across Sites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388AA-D8FC-4AA7-8D11-3256A4C9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Telcobright (2022)-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1FB77-4241-4F87-9057-3AD8C4C7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66D06E-C9BC-6D93-9005-5D26B2084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644" y="1509886"/>
            <a:ext cx="870585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499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1D73-8BFE-43A1-B76A-1787DD47A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Redundancy in IPSEC Path through BGP Backbone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75698-E648-4EFC-A0A3-E4E464C27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Telcobright (2022)-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402E7-D67F-4D8B-9229-2649B2FA1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FB2057-FD89-4860-9C6C-1A4EA95F4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269" y="1721475"/>
            <a:ext cx="7447619" cy="5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87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0F796-D3D2-4C6E-A4B8-92B5F8FEC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1015"/>
          </a:xfrm>
        </p:spPr>
        <p:txBody>
          <a:bodyPr/>
          <a:lstStyle/>
          <a:p>
            <a:r>
              <a:rPr lang="en-US" dirty="0"/>
              <a:t>Inter Site SMS Switching without Inter STP Link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29C394-51C9-49F2-B8BA-033092126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Telcobright (2022)-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DFEC0-5EF2-4026-BBB3-6423B1AD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B94D91-8661-441E-80B6-BF17E09E5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635" y="1442064"/>
            <a:ext cx="7085714" cy="4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362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591DA-F0A4-4318-ABA1-743E388F9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532" y="63122"/>
            <a:ext cx="10515600" cy="620582"/>
          </a:xfrm>
        </p:spPr>
        <p:txBody>
          <a:bodyPr>
            <a:normAutofit fontScale="90000"/>
          </a:bodyPr>
          <a:lstStyle/>
          <a:p>
            <a:r>
              <a:rPr lang="en-US" dirty="0"/>
              <a:t>Overall Network Topology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173463-6511-467D-845D-BE20D78F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Telcobright (2022)-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CC7A7-E955-435B-9688-B4F35408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2A61-9EE8-4E45-A1FB-04158638D414}" type="slidenum">
              <a:rPr lang="en-US" smtClean="0"/>
              <a:t>21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FD8A15-1816-A968-6A1B-334F91FB2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645" y="665900"/>
            <a:ext cx="7805697" cy="612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933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D.io">
      <a:dk1>
        <a:srgbClr val="2B2929"/>
      </a:dk1>
      <a:lt1>
        <a:srgbClr val="FFFFFF"/>
      </a:lt1>
      <a:dk2>
        <a:srgbClr val="F7323F"/>
      </a:dk2>
      <a:lt2>
        <a:srgbClr val="FFFFFF"/>
      </a:lt2>
      <a:accent1>
        <a:srgbClr val="F7323F"/>
      </a:accent1>
      <a:accent2>
        <a:srgbClr val="3A3838"/>
      </a:accent2>
      <a:accent3>
        <a:srgbClr val="F7323F"/>
      </a:accent3>
      <a:accent4>
        <a:srgbClr val="3A3838"/>
      </a:accent4>
      <a:accent5>
        <a:srgbClr val="F7323F"/>
      </a:accent5>
      <a:accent6>
        <a:srgbClr val="3A3838"/>
      </a:accent6>
      <a:hlink>
        <a:srgbClr val="26CAD3"/>
      </a:hlink>
      <a:folHlink>
        <a:srgbClr val="26CAD3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51020</TotalTime>
  <Words>516</Words>
  <Application>Microsoft Office PowerPoint</Application>
  <PresentationFormat>Widescreen</PresentationFormat>
  <Paragraphs>90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Helvetica</vt:lpstr>
      <vt:lpstr>Office Theme</vt:lpstr>
      <vt:lpstr>AIOB SMS V-HUB Signaling Topology - Message Routing (Signaling) and Billing recommendations as per GSMA     SMS HUB Guidelines - Network Design Considerations</vt:lpstr>
      <vt:lpstr>Important Recommendations from GSMA</vt:lpstr>
      <vt:lpstr>SIGTRAN Protocol Stack for SMS Transit through SMS HUB</vt:lpstr>
      <vt:lpstr>SMS HUB Equipment and Protocol Support</vt:lpstr>
      <vt:lpstr>GSMA Process Flow for Signaling (Bilateral)</vt:lpstr>
      <vt:lpstr>Example Message Routing (Bilateral)</vt:lpstr>
      <vt:lpstr>GSMA Process Flow for Signaling through HUB</vt:lpstr>
      <vt:lpstr>Example of Proposed Message Routing (Through SMS-HUB STP)</vt:lpstr>
      <vt:lpstr>Acknowledgement from AMTOB on Signaling Process Flow</vt:lpstr>
      <vt:lpstr>GSMA Recommendations for Realization of Signaling</vt:lpstr>
      <vt:lpstr>Recommendations on Preserving SCCP and MAP Addresses</vt:lpstr>
      <vt:lpstr>Recommendations on Billing </vt:lpstr>
      <vt:lpstr>Recommendations on Concatenated Messages</vt:lpstr>
      <vt:lpstr>High Availability and Security at Various Protocol Layers</vt:lpstr>
      <vt:lpstr>Site Level STP HA or Redundancy for SIGTRAN OR SCTP</vt:lpstr>
      <vt:lpstr>Card Level HA through SCTP Multihoming</vt:lpstr>
      <vt:lpstr>Use of BGP, IPSEC and OSPF</vt:lpstr>
      <vt:lpstr>eBGP over IPSEC, One Session or Tunnel per Firewall Across Sites</vt:lpstr>
      <vt:lpstr>Redundancy in IPSEC Path through BGP Backbone</vt:lpstr>
      <vt:lpstr>Inter Site SMS Switching without Inter STP Link</vt:lpstr>
      <vt:lpstr>Overall Network Topology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thre3</dc:creator>
  <cp:lastModifiedBy>Ahmed Ur Rahman</cp:lastModifiedBy>
  <cp:revision>362</cp:revision>
  <dcterms:created xsi:type="dcterms:W3CDTF">2016-02-09T20:55:00Z</dcterms:created>
  <dcterms:modified xsi:type="dcterms:W3CDTF">2024-03-05T10:52:32Z</dcterms:modified>
</cp:coreProperties>
</file>